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B22C51-0E3E-B50E-D77B-5BADB5A8CC9F}" v="15" dt="2025-05-20T14:16:55.044"/>
    <p1510:client id="{A371B5B3-37AE-A890-645D-EA110DFC768C}" v="442" dt="2025-05-20T14:15:08.5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20.05.2025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20.05.2025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20.05.2025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20.05.2025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20.05.2025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20.05.2025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20.05.2025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20.05.2025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20.05.2025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20.05.2025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20.05.2025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20.05.2025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>
                <a:ea typeface="+mj-lt"/>
                <a:cs typeface="+mj-lt"/>
              </a:rPr>
              <a:t>Hierarchical</a:t>
            </a:r>
            <a:r>
              <a:rPr lang="tr-TR" dirty="0">
                <a:ea typeface="+mj-lt"/>
                <a:cs typeface="+mj-lt"/>
              </a:rPr>
              <a:t> vs. </a:t>
            </a:r>
            <a:r>
              <a:rPr lang="tr-TR" dirty="0" err="1">
                <a:ea typeface="+mj-lt"/>
                <a:cs typeface="+mj-lt"/>
              </a:rPr>
              <a:t>Flat</a:t>
            </a:r>
            <a:r>
              <a:rPr lang="tr-TR" dirty="0">
                <a:ea typeface="+mj-lt"/>
                <a:cs typeface="+mj-lt"/>
              </a:rPr>
              <a:t> </a:t>
            </a:r>
            <a:r>
              <a:rPr lang="tr-TR" dirty="0" err="1">
                <a:ea typeface="+mj-lt"/>
                <a:cs typeface="+mj-lt"/>
              </a:rPr>
              <a:t>CNNs</a:t>
            </a:r>
            <a:r>
              <a:rPr lang="tr-TR" dirty="0">
                <a:ea typeface="+mj-lt"/>
                <a:cs typeface="+mj-lt"/>
              </a:rPr>
              <a:t> </a:t>
            </a:r>
            <a:r>
              <a:rPr lang="tr-TR" dirty="0" err="1">
                <a:ea typeface="+mj-lt"/>
                <a:cs typeface="+mj-lt"/>
              </a:rPr>
              <a:t>for</a:t>
            </a:r>
            <a:r>
              <a:rPr lang="tr-TR" dirty="0">
                <a:ea typeface="+mj-lt"/>
                <a:cs typeface="+mj-lt"/>
              </a:rPr>
              <a:t> Object </a:t>
            </a:r>
            <a:r>
              <a:rPr lang="tr-TR" dirty="0" err="1">
                <a:ea typeface="+mj-lt"/>
                <a:cs typeface="+mj-lt"/>
              </a:rPr>
              <a:t>Detection</a:t>
            </a:r>
            <a:endParaRPr lang="tr-TR" dirty="0" err="1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821597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/>
              <a:t>Serra Yılmaz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2AFCE00-F9B7-7486-BCA9-5770BB85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  <a:ea typeface="+mj-lt"/>
                <a:cs typeface="+mj-lt"/>
              </a:rPr>
              <a:t>Motivation &amp; Description </a:t>
            </a:r>
          </a:p>
        </p:txBody>
      </p:sp>
      <p:sp>
        <p:nvSpPr>
          <p:cNvPr id="27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D11B943-72BC-DC79-2DD0-767067D0A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tr-TR" b="1" dirty="0" err="1">
                <a:ea typeface="+mn-lt"/>
                <a:cs typeface="+mn-lt"/>
              </a:rPr>
              <a:t>Biological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inspiration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Human </a:t>
            </a:r>
            <a:r>
              <a:rPr lang="tr-TR" dirty="0" err="1">
                <a:ea typeface="+mn-lt"/>
                <a:cs typeface="+mn-lt"/>
              </a:rPr>
              <a:t>visual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cortex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processes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edges</a:t>
            </a:r>
            <a:r>
              <a:rPr lang="tr-TR" dirty="0">
                <a:ea typeface="+mn-lt"/>
                <a:cs typeface="+mn-lt"/>
              </a:rPr>
              <a:t> → </a:t>
            </a:r>
            <a:r>
              <a:rPr lang="tr-TR" dirty="0" err="1">
                <a:ea typeface="+mn-lt"/>
                <a:cs typeface="+mn-lt"/>
              </a:rPr>
              <a:t>corners</a:t>
            </a:r>
            <a:r>
              <a:rPr lang="tr-TR" dirty="0">
                <a:ea typeface="+mn-lt"/>
                <a:cs typeface="+mn-lt"/>
              </a:rPr>
              <a:t> → </a:t>
            </a:r>
            <a:r>
              <a:rPr lang="tr-TR" dirty="0" err="1">
                <a:ea typeface="+mn-lt"/>
                <a:cs typeface="+mn-lt"/>
              </a:rPr>
              <a:t>contours</a:t>
            </a:r>
            <a:r>
              <a:rPr lang="tr-TR" dirty="0">
                <a:ea typeface="+mn-lt"/>
                <a:cs typeface="+mn-lt"/>
              </a:rPr>
              <a:t> → </a:t>
            </a:r>
            <a:r>
              <a:rPr lang="tr-TR" dirty="0" err="1">
                <a:ea typeface="+mn-lt"/>
                <a:cs typeface="+mn-lt"/>
              </a:rPr>
              <a:t>full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objects</a:t>
            </a:r>
            <a:endParaRPr lang="tr-TR" err="1"/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b="1" dirty="0" err="1">
                <a:ea typeface="+mn-lt"/>
                <a:cs typeface="+mn-lt"/>
              </a:rPr>
              <a:t>Curriculum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learning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Prior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work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shows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that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staged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tasks</a:t>
            </a:r>
            <a:r>
              <a:rPr lang="tr-TR" dirty="0">
                <a:ea typeface="+mn-lt"/>
                <a:cs typeface="+mn-lt"/>
              </a:rPr>
              <a:t> can </a:t>
            </a:r>
            <a:r>
              <a:rPr lang="tr-TR" dirty="0" err="1">
                <a:ea typeface="+mn-lt"/>
                <a:cs typeface="+mn-lt"/>
              </a:rPr>
              <a:t>speed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convergence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improve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feature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quality</a:t>
            </a:r>
            <a:r>
              <a:rPr lang="tr-TR" dirty="0">
                <a:ea typeface="+mn-lt"/>
                <a:cs typeface="+mn-lt"/>
              </a:rPr>
              <a:t> (</a:t>
            </a:r>
            <a:r>
              <a:rPr lang="tr-TR" dirty="0" err="1">
                <a:ea typeface="+mn-lt"/>
                <a:cs typeface="+mn-lt"/>
              </a:rPr>
              <a:t>Bengio</a:t>
            </a:r>
            <a:r>
              <a:rPr lang="tr-TR" dirty="0">
                <a:ea typeface="+mn-lt"/>
                <a:cs typeface="+mn-lt"/>
              </a:rPr>
              <a:t> et al. 09)</a:t>
            </a:r>
            <a:endParaRPr lang="tr-TR" dirty="0"/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b="1" dirty="0" err="1">
                <a:ea typeface="+mn-lt"/>
                <a:cs typeface="+mn-lt"/>
              </a:rPr>
              <a:t>Gap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Most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CNNs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learn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end-to-end</a:t>
            </a:r>
            <a:r>
              <a:rPr lang="tr-TR" dirty="0">
                <a:ea typeface="+mn-lt"/>
                <a:cs typeface="+mn-lt"/>
              </a:rPr>
              <a:t>; </a:t>
            </a:r>
            <a:r>
              <a:rPr lang="tr-TR" dirty="0" err="1">
                <a:ea typeface="+mn-lt"/>
                <a:cs typeface="+mn-lt"/>
              </a:rPr>
              <a:t>we</a:t>
            </a:r>
            <a:r>
              <a:rPr lang="tr-TR" dirty="0">
                <a:ea typeface="+mn-lt"/>
                <a:cs typeface="+mn-lt"/>
              </a:rPr>
              <a:t> ask: </a:t>
            </a:r>
            <a:r>
              <a:rPr lang="tr-TR" i="1" dirty="0" err="1">
                <a:ea typeface="+mn-lt"/>
                <a:cs typeface="+mn-lt"/>
              </a:rPr>
              <a:t>Does</a:t>
            </a:r>
            <a:r>
              <a:rPr lang="tr-TR" i="1" dirty="0">
                <a:ea typeface="+mn-lt"/>
                <a:cs typeface="+mn-lt"/>
              </a:rPr>
              <a:t> </a:t>
            </a:r>
            <a:r>
              <a:rPr lang="tr-TR" i="1" dirty="0" err="1">
                <a:ea typeface="+mn-lt"/>
                <a:cs typeface="+mn-lt"/>
              </a:rPr>
              <a:t>explicitly</a:t>
            </a:r>
            <a:r>
              <a:rPr lang="tr-TR" i="1" dirty="0">
                <a:ea typeface="+mn-lt"/>
                <a:cs typeface="+mn-lt"/>
              </a:rPr>
              <a:t> </a:t>
            </a:r>
            <a:r>
              <a:rPr lang="tr-TR" i="1" dirty="0" err="1">
                <a:ea typeface="+mn-lt"/>
                <a:cs typeface="+mn-lt"/>
              </a:rPr>
              <a:t>layering</a:t>
            </a:r>
            <a:r>
              <a:rPr lang="tr-TR" i="1" dirty="0">
                <a:ea typeface="+mn-lt"/>
                <a:cs typeface="+mn-lt"/>
              </a:rPr>
              <a:t> </a:t>
            </a:r>
            <a:r>
              <a:rPr lang="tr-TR" i="1" dirty="0" err="1">
                <a:ea typeface="+mn-lt"/>
                <a:cs typeface="+mn-lt"/>
              </a:rPr>
              <a:t>low</a:t>
            </a:r>
            <a:r>
              <a:rPr lang="tr-TR" i="1" dirty="0">
                <a:ea typeface="+mn-lt"/>
                <a:cs typeface="+mn-lt"/>
              </a:rPr>
              <a:t>- </a:t>
            </a:r>
            <a:r>
              <a:rPr lang="tr-TR" i="1" dirty="0" err="1">
                <a:ea typeface="+mn-lt"/>
                <a:cs typeface="+mn-lt"/>
              </a:rPr>
              <a:t>to</a:t>
            </a:r>
            <a:r>
              <a:rPr lang="tr-TR" i="1" dirty="0">
                <a:ea typeface="+mn-lt"/>
                <a:cs typeface="+mn-lt"/>
              </a:rPr>
              <a:t> </a:t>
            </a:r>
            <a:r>
              <a:rPr lang="tr-TR" i="1" dirty="0" err="1">
                <a:ea typeface="+mn-lt"/>
                <a:cs typeface="+mn-lt"/>
              </a:rPr>
              <a:t>high-level</a:t>
            </a:r>
            <a:r>
              <a:rPr lang="tr-TR" i="1" dirty="0">
                <a:ea typeface="+mn-lt"/>
                <a:cs typeface="+mn-lt"/>
              </a:rPr>
              <a:t> </a:t>
            </a:r>
            <a:r>
              <a:rPr lang="tr-TR" i="1" dirty="0" err="1">
                <a:ea typeface="+mn-lt"/>
                <a:cs typeface="+mn-lt"/>
              </a:rPr>
              <a:t>representations</a:t>
            </a:r>
            <a:r>
              <a:rPr lang="tr-TR" i="1" dirty="0">
                <a:ea typeface="+mn-lt"/>
                <a:cs typeface="+mn-lt"/>
              </a:rPr>
              <a:t> </a:t>
            </a:r>
            <a:r>
              <a:rPr lang="tr-TR" i="1" dirty="0" err="1">
                <a:ea typeface="+mn-lt"/>
                <a:cs typeface="+mn-lt"/>
              </a:rPr>
              <a:t>help</a:t>
            </a:r>
            <a:r>
              <a:rPr lang="tr-TR" i="1" dirty="0">
                <a:ea typeface="+mn-lt"/>
                <a:cs typeface="+mn-lt"/>
              </a:rPr>
              <a:t> </a:t>
            </a:r>
            <a:r>
              <a:rPr lang="tr-TR" i="1" dirty="0" err="1">
                <a:ea typeface="+mn-lt"/>
                <a:cs typeface="+mn-lt"/>
              </a:rPr>
              <a:t>recognition</a:t>
            </a:r>
            <a:r>
              <a:rPr lang="tr-TR" i="1" dirty="0">
                <a:ea typeface="+mn-lt"/>
                <a:cs typeface="+mn-lt"/>
              </a:rPr>
              <a:t>?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4480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84F8DC-3789-C3C4-DC86-55A191A1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+mj-lt"/>
                <a:cs typeface="+mj-lt"/>
              </a:rPr>
              <a:t>Model </a:t>
            </a:r>
            <a:r>
              <a:rPr lang="tr-TR" dirty="0" err="1">
                <a:ea typeface="+mj-lt"/>
                <a:cs typeface="+mj-lt"/>
              </a:rPr>
              <a:t>Architectures</a:t>
            </a:r>
            <a:r>
              <a:rPr lang="tr-TR" dirty="0">
                <a:ea typeface="+mj-lt"/>
                <a:cs typeface="+mj-lt"/>
              </a:rPr>
              <a:t> </a:t>
            </a:r>
            <a:br>
              <a:rPr lang="tr-TR" dirty="0">
                <a:ea typeface="+mj-lt"/>
                <a:cs typeface="+mj-lt"/>
              </a:rPr>
            </a:br>
            <a:r>
              <a:rPr lang="tr-TR" dirty="0">
                <a:ea typeface="+mj-lt"/>
                <a:cs typeface="+mj-lt"/>
              </a:rPr>
              <a:t>&amp; Training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74CDB85-684A-A1B3-FF96-F607A2BD5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9309"/>
            <a:ext cx="10515600" cy="4351338"/>
          </a:xfr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tr-TR" dirty="0" err="1"/>
              <a:t>Hierarchical</a:t>
            </a:r>
            <a:r>
              <a:rPr lang="tr-TR" dirty="0"/>
              <a:t> </a:t>
            </a:r>
            <a:r>
              <a:rPr lang="tr-TR" dirty="0" err="1"/>
              <a:t>Pipeline</a:t>
            </a:r>
            <a:r>
              <a:rPr lang="tr-TR" dirty="0"/>
              <a:t> (Total ~0.25 M </a:t>
            </a:r>
            <a:r>
              <a:rPr lang="tr-TR" dirty="0" err="1"/>
              <a:t>params</a:t>
            </a:r>
            <a:r>
              <a:rPr lang="tr-TR" dirty="0"/>
              <a:t>)</a:t>
            </a:r>
            <a:endParaRPr lang="tr-TR"/>
          </a:p>
          <a:p>
            <a:r>
              <a:rPr lang="tr-TR" b="1" dirty="0" err="1">
                <a:ea typeface="+mn-lt"/>
                <a:cs typeface="+mn-lt"/>
              </a:rPr>
              <a:t>EdgeNet</a:t>
            </a:r>
            <a:r>
              <a:rPr lang="tr-TR" dirty="0">
                <a:ea typeface="+mn-lt"/>
                <a:cs typeface="+mn-lt"/>
              </a:rPr>
              <a:t> (0.06 M) </a:t>
            </a:r>
            <a:r>
              <a:rPr lang="tr-TR" dirty="0" err="1">
                <a:ea typeface="+mn-lt"/>
                <a:cs typeface="+mn-lt"/>
              </a:rPr>
              <a:t>Accuracy</a:t>
            </a:r>
            <a:r>
              <a:rPr lang="tr-TR" dirty="0">
                <a:ea typeface="+mn-lt"/>
                <a:cs typeface="+mn-lt"/>
              </a:rPr>
              <a:t>: 96.00 % (</a:t>
            </a:r>
            <a:r>
              <a:rPr lang="tr-TR" dirty="0" err="1">
                <a:ea typeface="+mn-lt"/>
                <a:cs typeface="+mn-lt"/>
              </a:rPr>
              <a:t>pixel</a:t>
            </a:r>
            <a:r>
              <a:rPr lang="tr-TR" dirty="0">
                <a:ea typeface="+mn-lt"/>
                <a:cs typeface="+mn-lt"/>
              </a:rPr>
              <a:t>)</a:t>
            </a:r>
            <a:endParaRPr lang="tr-TR" dirty="0"/>
          </a:p>
          <a:p>
            <a:pPr lvl="1"/>
            <a:r>
              <a:rPr lang="tr-TR" dirty="0" err="1">
                <a:ea typeface="+mn-lt"/>
                <a:cs typeface="+mn-lt"/>
              </a:rPr>
              <a:t>Input</a:t>
            </a:r>
            <a:r>
              <a:rPr lang="tr-TR" dirty="0">
                <a:ea typeface="+mn-lt"/>
                <a:cs typeface="+mn-lt"/>
              </a:rPr>
              <a:t>: RGB → </a:t>
            </a:r>
            <a:r>
              <a:rPr lang="tr-TR" dirty="0" err="1">
                <a:ea typeface="+mn-lt"/>
                <a:cs typeface="+mn-lt"/>
              </a:rPr>
              <a:t>Sobel-style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edge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maps</a:t>
            </a:r>
            <a:endParaRPr lang="tr-TR" dirty="0" err="1"/>
          </a:p>
          <a:p>
            <a:r>
              <a:rPr lang="tr-TR" b="1" dirty="0" err="1">
                <a:ea typeface="+mn-lt"/>
                <a:cs typeface="+mn-lt"/>
              </a:rPr>
              <a:t>CornerNet</a:t>
            </a:r>
            <a:r>
              <a:rPr lang="tr-TR" dirty="0">
                <a:ea typeface="+mn-lt"/>
                <a:cs typeface="+mn-lt"/>
              </a:rPr>
              <a:t> (0.05 M) </a:t>
            </a:r>
            <a:r>
              <a:rPr lang="tr-TR" dirty="0" err="1">
                <a:ea typeface="+mn-lt"/>
                <a:cs typeface="+mn-lt"/>
              </a:rPr>
              <a:t>Accuracy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sz="2700" dirty="0">
                <a:ea typeface="+mn-lt"/>
                <a:cs typeface="+mn-lt"/>
              </a:rPr>
              <a:t>in </a:t>
            </a:r>
            <a:r>
              <a:rPr lang="tr-TR" dirty="0">
                <a:ea typeface="+mn-lt"/>
                <a:cs typeface="+mn-lt"/>
              </a:rPr>
              <a:t>: 87.08 % (</a:t>
            </a:r>
            <a:r>
              <a:rPr lang="tr-TR" dirty="0" err="1">
                <a:ea typeface="+mn-lt"/>
                <a:cs typeface="+mn-lt"/>
              </a:rPr>
              <a:t>pixel</a:t>
            </a:r>
            <a:r>
              <a:rPr lang="tr-TR" dirty="0">
                <a:ea typeface="+mn-lt"/>
                <a:cs typeface="+mn-lt"/>
              </a:rPr>
              <a:t>)</a:t>
            </a:r>
            <a:endParaRPr lang="tr-TR" dirty="0"/>
          </a:p>
          <a:p>
            <a:pPr lvl="1"/>
            <a:r>
              <a:rPr lang="tr-TR" dirty="0" err="1">
                <a:ea typeface="+mn-lt"/>
                <a:cs typeface="+mn-lt"/>
              </a:rPr>
              <a:t>Input</a:t>
            </a:r>
            <a:r>
              <a:rPr lang="tr-TR" dirty="0">
                <a:ea typeface="+mn-lt"/>
                <a:cs typeface="+mn-lt"/>
              </a:rPr>
              <a:t>: RGB + </a:t>
            </a:r>
            <a:r>
              <a:rPr lang="tr-TR" dirty="0" err="1">
                <a:ea typeface="+mn-lt"/>
                <a:cs typeface="+mn-lt"/>
              </a:rPr>
              <a:t>EdgeMap</a:t>
            </a:r>
            <a:r>
              <a:rPr lang="tr-TR" dirty="0">
                <a:ea typeface="+mn-lt"/>
                <a:cs typeface="+mn-lt"/>
              </a:rPr>
              <a:t> → </a:t>
            </a:r>
            <a:r>
              <a:rPr lang="tr-TR" dirty="0" err="1">
                <a:ea typeface="+mn-lt"/>
                <a:cs typeface="+mn-lt"/>
              </a:rPr>
              <a:t>corner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detections</a:t>
            </a:r>
            <a:r>
              <a:rPr lang="tr-TR" dirty="0">
                <a:ea typeface="+mn-lt"/>
                <a:cs typeface="+mn-lt"/>
              </a:rPr>
              <a:t> </a:t>
            </a:r>
            <a:endParaRPr lang="tr-TR" dirty="0"/>
          </a:p>
          <a:p>
            <a:r>
              <a:rPr lang="tr-TR" b="1" dirty="0" err="1">
                <a:ea typeface="+mn-lt"/>
                <a:cs typeface="+mn-lt"/>
              </a:rPr>
              <a:t>ContourNet</a:t>
            </a:r>
            <a:r>
              <a:rPr lang="tr-TR" dirty="0">
                <a:ea typeface="+mn-lt"/>
                <a:cs typeface="+mn-lt"/>
              </a:rPr>
              <a:t> (0.04 M) </a:t>
            </a:r>
            <a:r>
              <a:rPr lang="tr-TR" dirty="0" err="1">
                <a:ea typeface="+mn-lt"/>
                <a:cs typeface="+mn-lt"/>
              </a:rPr>
              <a:t>Accuracy</a:t>
            </a:r>
            <a:r>
              <a:rPr lang="tr-TR" dirty="0">
                <a:ea typeface="+mn-lt"/>
                <a:cs typeface="+mn-lt"/>
              </a:rPr>
              <a:t>: 65.06 % (</a:t>
            </a:r>
            <a:r>
              <a:rPr lang="tr-TR" dirty="0" err="1">
                <a:ea typeface="+mn-lt"/>
                <a:cs typeface="+mn-lt"/>
              </a:rPr>
              <a:t>pixel</a:t>
            </a:r>
            <a:r>
              <a:rPr lang="tr-TR" dirty="0">
                <a:ea typeface="+mn-lt"/>
                <a:cs typeface="+mn-lt"/>
              </a:rPr>
              <a:t>)</a:t>
            </a:r>
          </a:p>
          <a:p>
            <a:pPr lvl="1"/>
            <a:r>
              <a:rPr lang="tr-TR" dirty="0" err="1">
                <a:ea typeface="+mn-lt"/>
                <a:cs typeface="+mn-lt"/>
              </a:rPr>
              <a:t>Input</a:t>
            </a:r>
            <a:r>
              <a:rPr lang="tr-TR" dirty="0">
                <a:ea typeface="+mn-lt"/>
                <a:cs typeface="+mn-lt"/>
              </a:rPr>
              <a:t>: </a:t>
            </a:r>
            <a:r>
              <a:rPr lang="tr-TR" dirty="0" err="1">
                <a:ea typeface="+mn-lt"/>
                <a:cs typeface="+mn-lt"/>
              </a:rPr>
              <a:t>EdgeMap</a:t>
            </a:r>
            <a:r>
              <a:rPr lang="tr-TR" dirty="0">
                <a:ea typeface="+mn-lt"/>
                <a:cs typeface="+mn-lt"/>
              </a:rPr>
              <a:t> + </a:t>
            </a:r>
            <a:r>
              <a:rPr lang="tr-TR" dirty="0" err="1">
                <a:ea typeface="+mn-lt"/>
                <a:cs typeface="+mn-lt"/>
              </a:rPr>
              <a:t>CornerMap</a:t>
            </a:r>
            <a:r>
              <a:rPr lang="tr-TR" dirty="0">
                <a:ea typeface="+mn-lt"/>
                <a:cs typeface="+mn-lt"/>
              </a:rPr>
              <a:t> → </a:t>
            </a:r>
            <a:r>
              <a:rPr lang="tr-TR" dirty="0" err="1">
                <a:ea typeface="+mn-lt"/>
                <a:cs typeface="+mn-lt"/>
              </a:rPr>
              <a:t>contour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detections</a:t>
            </a:r>
            <a:endParaRPr lang="tr-TR" dirty="0" err="1"/>
          </a:p>
          <a:p>
            <a:r>
              <a:rPr lang="tr-TR" b="1" dirty="0" err="1">
                <a:ea typeface="+mn-lt"/>
                <a:cs typeface="+mn-lt"/>
              </a:rPr>
              <a:t>SaliencyNet</a:t>
            </a:r>
            <a:r>
              <a:rPr lang="tr-TR" dirty="0">
                <a:ea typeface="+mn-lt"/>
                <a:cs typeface="+mn-lt"/>
              </a:rPr>
              <a:t> (0.06 M) </a:t>
            </a:r>
            <a:r>
              <a:rPr lang="tr-TR" dirty="0" err="1">
                <a:ea typeface="+mn-lt"/>
                <a:cs typeface="+mn-lt"/>
              </a:rPr>
              <a:t>Accuracy</a:t>
            </a:r>
            <a:r>
              <a:rPr lang="tr-TR" dirty="0">
                <a:ea typeface="+mn-lt"/>
                <a:cs typeface="+mn-lt"/>
              </a:rPr>
              <a:t> : 0.000554 (MSE)</a:t>
            </a:r>
            <a:endParaRPr lang="tr-TR" dirty="0"/>
          </a:p>
          <a:p>
            <a:pPr lvl="1"/>
            <a:r>
              <a:rPr lang="tr-TR" dirty="0" err="1">
                <a:ea typeface="+mn-lt"/>
                <a:cs typeface="+mn-lt"/>
              </a:rPr>
              <a:t>Input</a:t>
            </a:r>
            <a:r>
              <a:rPr lang="tr-TR" dirty="0">
                <a:ea typeface="+mn-lt"/>
                <a:cs typeface="+mn-lt"/>
              </a:rPr>
              <a:t>: </a:t>
            </a:r>
            <a:r>
              <a:rPr lang="tr-TR" dirty="0" err="1">
                <a:ea typeface="+mn-lt"/>
                <a:cs typeface="+mn-lt"/>
              </a:rPr>
              <a:t>CornerMap</a:t>
            </a:r>
            <a:r>
              <a:rPr lang="tr-TR" dirty="0">
                <a:ea typeface="+mn-lt"/>
                <a:cs typeface="+mn-lt"/>
              </a:rPr>
              <a:t> + </a:t>
            </a:r>
            <a:r>
              <a:rPr lang="tr-TR" dirty="0" err="1">
                <a:ea typeface="+mn-lt"/>
                <a:cs typeface="+mn-lt"/>
              </a:rPr>
              <a:t>ContourMap</a:t>
            </a:r>
            <a:r>
              <a:rPr lang="tr-TR" dirty="0">
                <a:ea typeface="+mn-lt"/>
                <a:cs typeface="+mn-lt"/>
              </a:rPr>
              <a:t> → </a:t>
            </a:r>
            <a:r>
              <a:rPr lang="tr-TR" dirty="0" err="1">
                <a:ea typeface="+mn-lt"/>
                <a:cs typeface="+mn-lt"/>
              </a:rPr>
              <a:t>saliency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scores</a:t>
            </a:r>
            <a:endParaRPr lang="tr-TR" dirty="0" err="1"/>
          </a:p>
          <a:p>
            <a:r>
              <a:rPr lang="tr-TR" b="1" dirty="0" err="1">
                <a:ea typeface="+mn-lt"/>
                <a:cs typeface="+mn-lt"/>
              </a:rPr>
              <a:t>RecognitionNet</a:t>
            </a:r>
            <a:r>
              <a:rPr lang="tr-TR" dirty="0">
                <a:ea typeface="+mn-lt"/>
                <a:cs typeface="+mn-lt"/>
              </a:rPr>
              <a:t> (0.04 M)</a:t>
            </a:r>
            <a:endParaRPr lang="tr-TR" dirty="0"/>
          </a:p>
          <a:p>
            <a:pPr lvl="1"/>
            <a:r>
              <a:rPr lang="tr-TR" err="1">
                <a:ea typeface="+mn-lt"/>
                <a:cs typeface="+mn-lt"/>
              </a:rPr>
              <a:t>Input</a:t>
            </a:r>
            <a:r>
              <a:rPr lang="tr-TR" dirty="0">
                <a:ea typeface="+mn-lt"/>
                <a:cs typeface="+mn-lt"/>
              </a:rPr>
              <a:t>: </a:t>
            </a:r>
            <a:r>
              <a:rPr lang="tr-TR" err="1">
                <a:ea typeface="+mn-lt"/>
                <a:cs typeface="+mn-lt"/>
              </a:rPr>
              <a:t>concat</a:t>
            </a:r>
            <a:r>
              <a:rPr lang="tr-TR" dirty="0">
                <a:ea typeface="+mn-lt"/>
                <a:cs typeface="+mn-lt"/>
              </a:rPr>
              <a:t>(</a:t>
            </a:r>
            <a:r>
              <a:rPr lang="tr-TR" err="1">
                <a:ea typeface="+mn-lt"/>
                <a:cs typeface="+mn-lt"/>
              </a:rPr>
              <a:t>AllMaps</a:t>
            </a:r>
            <a:r>
              <a:rPr lang="tr-TR" dirty="0">
                <a:ea typeface="+mn-lt"/>
                <a:cs typeface="+mn-lt"/>
              </a:rPr>
              <a:t>) + RGB → 10-way </a:t>
            </a:r>
            <a:r>
              <a:rPr lang="tr-TR" dirty="0" err="1">
                <a:ea typeface="+mn-lt"/>
                <a:cs typeface="+mn-lt"/>
              </a:rPr>
              <a:t>softmax</a:t>
            </a:r>
            <a:endParaRPr lang="tr-TR" dirty="0">
              <a:ea typeface="+mn-lt"/>
              <a:cs typeface="+mn-lt"/>
            </a:endParaRPr>
          </a:p>
          <a:p>
            <a:pPr marL="457200" lvl="1" indent="0">
              <a:buNone/>
            </a:pP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err="1">
                <a:ea typeface="+mn-lt"/>
                <a:cs typeface="+mn-lt"/>
              </a:rPr>
              <a:t>Flat</a:t>
            </a:r>
            <a:r>
              <a:rPr lang="tr-TR" dirty="0"/>
              <a:t> CNN (0.09 M </a:t>
            </a:r>
            <a:r>
              <a:rPr lang="tr-TR" err="1"/>
              <a:t>params</a:t>
            </a:r>
            <a:r>
              <a:rPr lang="tr-TR" dirty="0"/>
              <a:t>)</a:t>
            </a:r>
          </a:p>
          <a:p>
            <a:pPr lvl="1"/>
            <a:r>
              <a:rPr lang="tr-TR" dirty="0">
                <a:ea typeface="+mn-lt"/>
                <a:cs typeface="+mn-lt"/>
              </a:rPr>
              <a:t>Standard 3-layer </a:t>
            </a:r>
            <a:r>
              <a:rPr lang="tr-TR" err="1">
                <a:ea typeface="+mn-lt"/>
                <a:cs typeface="+mn-lt"/>
              </a:rPr>
              <a:t>conv</a:t>
            </a:r>
            <a:r>
              <a:rPr lang="tr-TR" dirty="0">
                <a:ea typeface="+mn-lt"/>
                <a:cs typeface="+mn-lt"/>
              </a:rPr>
              <a:t> ⇒ </a:t>
            </a:r>
            <a:r>
              <a:rPr lang="tr-TR" err="1">
                <a:ea typeface="+mn-lt"/>
                <a:cs typeface="+mn-lt"/>
              </a:rPr>
              <a:t>pooling</a:t>
            </a:r>
            <a:r>
              <a:rPr lang="tr-TR" dirty="0">
                <a:ea typeface="+mn-lt"/>
                <a:cs typeface="+mn-lt"/>
              </a:rPr>
              <a:t> ⇒ FC</a:t>
            </a:r>
            <a:endParaRPr lang="tr-TR" dirty="0"/>
          </a:p>
          <a:p>
            <a:pPr marL="457200" lvl="1" indent="0">
              <a:buNone/>
            </a:pPr>
            <a:endParaRPr lang="tr-TR" dirty="0">
              <a:ea typeface="+mn-lt"/>
              <a:cs typeface="+mn-lt"/>
            </a:endParaRPr>
          </a:p>
          <a:p>
            <a:r>
              <a:rPr lang="tr-TR" b="1" dirty="0">
                <a:ea typeface="+mn-lt"/>
                <a:cs typeface="+mn-lt"/>
              </a:rPr>
              <a:t>Training </a:t>
            </a:r>
            <a:r>
              <a:rPr lang="tr-TR" b="1" err="1">
                <a:ea typeface="+mn-lt"/>
                <a:cs typeface="+mn-lt"/>
              </a:rPr>
              <a:t>Details</a:t>
            </a:r>
            <a:r>
              <a:rPr lang="tr-TR" b="1" dirty="0">
                <a:ea typeface="+mn-lt"/>
                <a:cs typeface="+mn-lt"/>
              </a:rPr>
              <a:t>:</a:t>
            </a:r>
            <a:endParaRPr lang="tr-TR" dirty="0"/>
          </a:p>
          <a:p>
            <a:r>
              <a:rPr lang="tr-TR" b="1" err="1">
                <a:ea typeface="+mn-lt"/>
                <a:cs typeface="+mn-lt"/>
              </a:rPr>
              <a:t>Dataset</a:t>
            </a:r>
            <a:r>
              <a:rPr lang="tr-TR" b="1" dirty="0">
                <a:ea typeface="+mn-lt"/>
                <a:cs typeface="+mn-lt"/>
              </a:rPr>
              <a:t>: </a:t>
            </a:r>
            <a:r>
              <a:rPr lang="tr-TR" dirty="0">
                <a:ea typeface="+mn-lt"/>
                <a:cs typeface="+mn-lt"/>
              </a:rPr>
              <a:t>CIFAR-10</a:t>
            </a:r>
            <a:endParaRPr lang="tr-TR" b="1" dirty="0">
              <a:ea typeface="+mn-lt"/>
              <a:cs typeface="+mn-lt"/>
            </a:endParaRPr>
          </a:p>
          <a:p>
            <a:r>
              <a:rPr lang="tr-TR" b="1" err="1">
                <a:ea typeface="+mn-lt"/>
                <a:cs typeface="+mn-lt"/>
              </a:rPr>
              <a:t>Optimizer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Adam, </a:t>
            </a:r>
            <a:r>
              <a:rPr lang="tr-TR" err="1">
                <a:ea typeface="+mn-lt"/>
                <a:cs typeface="+mn-lt"/>
              </a:rPr>
              <a:t>lr</a:t>
            </a:r>
            <a:r>
              <a:rPr lang="tr-TR" dirty="0">
                <a:ea typeface="+mn-lt"/>
                <a:cs typeface="+mn-lt"/>
              </a:rPr>
              <a:t>=1e-3, </a:t>
            </a:r>
            <a:r>
              <a:rPr lang="tr-TR" err="1">
                <a:ea typeface="+mn-lt"/>
                <a:cs typeface="+mn-lt"/>
              </a:rPr>
              <a:t>batch</a:t>
            </a:r>
            <a:r>
              <a:rPr lang="tr-TR" dirty="0">
                <a:ea typeface="+mn-lt"/>
                <a:cs typeface="+mn-lt"/>
              </a:rPr>
              <a:t> size=64</a:t>
            </a:r>
            <a:endParaRPr lang="tr-TR" dirty="0"/>
          </a:p>
          <a:p>
            <a:endParaRPr lang="tr-TR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CAD43A1B-DB32-F0DC-535B-B09FE5E6DBE7}"/>
              </a:ext>
            </a:extLst>
          </p:cNvPr>
          <p:cNvSpPr txBox="1"/>
          <p:nvPr/>
        </p:nvSpPr>
        <p:spPr>
          <a:xfrm>
            <a:off x="10109348" y="6499075"/>
            <a:ext cx="348633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1100" dirty="0">
                <a:ea typeface="+mn-lt"/>
                <a:cs typeface="+mn-lt"/>
              </a:rPr>
              <a:t>https://i.sstatic.net/HVVoF.jpg</a:t>
            </a:r>
          </a:p>
        </p:txBody>
      </p:sp>
      <p:pic>
        <p:nvPicPr>
          <p:cNvPr id="17" name="Resim 16" descr="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7A69CF2-7228-D165-7D9E-FB223D3F1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5" y="227815"/>
            <a:ext cx="4019094" cy="640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5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E5AD1B-1EB0-0859-7300-8C3689A38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ea typeface="+mj-lt"/>
                <a:cs typeface="+mj-lt"/>
              </a:rPr>
              <a:t>Experimental</a:t>
            </a:r>
            <a:r>
              <a:rPr lang="tr-TR" dirty="0">
                <a:ea typeface="+mj-lt"/>
                <a:cs typeface="+mj-lt"/>
              </a:rPr>
              <a:t> </a:t>
            </a:r>
            <a:r>
              <a:rPr lang="tr-TR" dirty="0" err="1">
                <a:ea typeface="+mj-lt"/>
                <a:cs typeface="+mj-lt"/>
              </a:rPr>
              <a:t>Results</a:t>
            </a:r>
            <a:endParaRPr lang="tr-TR" dirty="0" err="1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C4B97D-B8A2-3167-DE32-7F387F901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1) Full-Data (CIFAR-10)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</p:txBody>
      </p:sp>
      <p:graphicFrame>
        <p:nvGraphicFramePr>
          <p:cNvPr id="8" name="Tablo 7">
            <a:extLst>
              <a:ext uri="{FF2B5EF4-FFF2-40B4-BE49-F238E27FC236}">
                <a16:creationId xmlns:a16="http://schemas.microsoft.com/office/drawing/2014/main" id="{09E81C5A-FDC3-E3E3-C8B6-AD0BBF670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983942"/>
              </p:ext>
            </p:extLst>
          </p:nvPr>
        </p:nvGraphicFramePr>
        <p:xfrm>
          <a:off x="900545" y="2587875"/>
          <a:ext cx="10390908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97727">
                  <a:extLst>
                    <a:ext uri="{9D8B030D-6E8A-4147-A177-3AD203B41FA5}">
                      <a16:colId xmlns:a16="http://schemas.microsoft.com/office/drawing/2014/main" val="3350753389"/>
                    </a:ext>
                  </a:extLst>
                </a:gridCol>
                <a:gridCol w="2597727">
                  <a:extLst>
                    <a:ext uri="{9D8B030D-6E8A-4147-A177-3AD203B41FA5}">
                      <a16:colId xmlns:a16="http://schemas.microsoft.com/office/drawing/2014/main" val="2895408009"/>
                    </a:ext>
                  </a:extLst>
                </a:gridCol>
                <a:gridCol w="2597727">
                  <a:extLst>
                    <a:ext uri="{9D8B030D-6E8A-4147-A177-3AD203B41FA5}">
                      <a16:colId xmlns:a16="http://schemas.microsoft.com/office/drawing/2014/main" val="3877666178"/>
                    </a:ext>
                  </a:extLst>
                </a:gridCol>
                <a:gridCol w="2597727">
                  <a:extLst>
                    <a:ext uri="{9D8B030D-6E8A-4147-A177-3AD203B41FA5}">
                      <a16:colId xmlns:a16="http://schemas.microsoft.com/office/drawing/2014/main" val="52664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r-TR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Params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10 ep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Test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453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/>
                        <a:t>Flat CNN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0.09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58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b="1"/>
                        <a:t>63.78 %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545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b="1"/>
                        <a:t>Hierarchical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0.25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178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61.25 %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165726"/>
                  </a:ext>
                </a:extLst>
              </a:tr>
            </a:tbl>
          </a:graphicData>
        </a:graphic>
      </p:graphicFrame>
      <p:pic>
        <p:nvPicPr>
          <p:cNvPr id="9" name="Resim 8" descr="metin, diyagram, çizgi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9054E60B-E37D-0105-9DC7-1926914D6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234" y="4047688"/>
            <a:ext cx="5575184" cy="2244055"/>
          </a:xfrm>
          <a:prstGeom prst="rect">
            <a:avLst/>
          </a:prstGeom>
        </p:spPr>
      </p:pic>
      <p:pic>
        <p:nvPicPr>
          <p:cNvPr id="10" name="Resim 9" descr="metin, diyagram, çizgi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214B8D28-F3BC-B3B9-8883-CD7D485B1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48" y="4049437"/>
            <a:ext cx="5533239" cy="223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03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68885F-781F-C26F-944D-569507765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90" y="46165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2) </a:t>
            </a:r>
            <a:r>
              <a:rPr lang="tr-TR" dirty="0" err="1">
                <a:ea typeface="+mn-lt"/>
                <a:cs typeface="+mn-lt"/>
              </a:rPr>
              <a:t>Ablation</a:t>
            </a:r>
            <a:r>
              <a:rPr lang="tr-TR" dirty="0">
                <a:ea typeface="+mn-lt"/>
                <a:cs typeface="+mn-lt"/>
              </a:rPr>
              <a:t> (RGB + </a:t>
            </a:r>
            <a:r>
              <a:rPr lang="tr-TR" dirty="0" err="1">
                <a:ea typeface="+mn-lt"/>
                <a:cs typeface="+mn-lt"/>
              </a:rPr>
              <a:t>Single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Map</a:t>
            </a:r>
            <a:r>
              <a:rPr lang="tr-TR" dirty="0">
                <a:ea typeface="+mn-lt"/>
                <a:cs typeface="+mn-lt"/>
              </a:rPr>
              <a:t>, 20 </a:t>
            </a:r>
            <a:r>
              <a:rPr lang="tr-TR" dirty="0" err="1">
                <a:ea typeface="+mn-lt"/>
                <a:cs typeface="+mn-lt"/>
              </a:rPr>
              <a:t>ep</a:t>
            </a:r>
            <a:r>
              <a:rPr lang="tr-TR" dirty="0">
                <a:ea typeface="+mn-lt"/>
                <a:cs typeface="+mn-lt"/>
              </a:rPr>
              <a:t>)</a:t>
            </a:r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tr-TR" sz="1800" b="1" dirty="0">
                <a:ea typeface="+mn-lt"/>
                <a:cs typeface="+mn-lt"/>
              </a:rPr>
              <a:t>RGB </a:t>
            </a:r>
            <a:r>
              <a:rPr lang="tr-TR" sz="1800" b="1" dirty="0" err="1">
                <a:ea typeface="+mn-lt"/>
                <a:cs typeface="+mn-lt"/>
              </a:rPr>
              <a:t>only</a:t>
            </a:r>
            <a:r>
              <a:rPr lang="tr-TR" sz="1800" b="1" dirty="0">
                <a:ea typeface="+mn-lt"/>
                <a:cs typeface="+mn-lt"/>
              </a:rPr>
              <a:t>:</a:t>
            </a:r>
            <a:r>
              <a:rPr lang="tr-TR" sz="1800" dirty="0">
                <a:ea typeface="+mn-lt"/>
                <a:cs typeface="+mn-lt"/>
              </a:rPr>
              <a:t> 57.88 % (3-channel)</a:t>
            </a:r>
            <a:endParaRPr lang="tr-TR" sz="1800"/>
          </a:p>
          <a:p>
            <a:pPr marL="457200" indent="-457200">
              <a:buFont typeface="Arial"/>
              <a:buChar char="•"/>
            </a:pPr>
            <a:r>
              <a:rPr lang="tr-TR" sz="1800" b="1" dirty="0" err="1">
                <a:ea typeface="+mn-lt"/>
                <a:cs typeface="+mn-lt"/>
              </a:rPr>
              <a:t>RGB+Edge</a:t>
            </a:r>
            <a:r>
              <a:rPr lang="tr-TR" sz="1800" b="1" dirty="0">
                <a:ea typeface="+mn-lt"/>
                <a:cs typeface="+mn-lt"/>
              </a:rPr>
              <a:t>:</a:t>
            </a:r>
            <a:r>
              <a:rPr lang="tr-TR" sz="1800" dirty="0">
                <a:ea typeface="+mn-lt"/>
                <a:cs typeface="+mn-lt"/>
              </a:rPr>
              <a:t> 57.59 % (4-channel)</a:t>
            </a:r>
          </a:p>
          <a:p>
            <a:pPr marL="457200" indent="-457200">
              <a:buFont typeface="Arial"/>
              <a:buChar char="•"/>
            </a:pPr>
            <a:r>
              <a:rPr lang="tr-TR" sz="1800" b="1" dirty="0" err="1">
                <a:ea typeface="+mn-lt"/>
                <a:cs typeface="+mn-lt"/>
              </a:rPr>
              <a:t>RGB+Corner</a:t>
            </a:r>
            <a:r>
              <a:rPr lang="tr-TR" sz="1800" b="1" dirty="0">
                <a:ea typeface="+mn-lt"/>
                <a:cs typeface="+mn-lt"/>
              </a:rPr>
              <a:t>:</a:t>
            </a:r>
            <a:r>
              <a:rPr lang="tr-TR" sz="1800" dirty="0">
                <a:ea typeface="+mn-lt"/>
                <a:cs typeface="+mn-lt"/>
              </a:rPr>
              <a:t> 59.00 % (4-channel)</a:t>
            </a:r>
          </a:p>
          <a:p>
            <a:pPr marL="457200" indent="-457200">
              <a:buFont typeface="Arial"/>
              <a:buChar char="•"/>
            </a:pPr>
            <a:r>
              <a:rPr lang="tr-TR" sz="1800" b="1" dirty="0" err="1">
                <a:ea typeface="+mn-lt"/>
                <a:cs typeface="+mn-lt"/>
              </a:rPr>
              <a:t>RGB+Contour</a:t>
            </a:r>
            <a:r>
              <a:rPr lang="tr-TR" sz="1800" b="1" dirty="0">
                <a:ea typeface="+mn-lt"/>
                <a:cs typeface="+mn-lt"/>
              </a:rPr>
              <a:t>:</a:t>
            </a:r>
            <a:r>
              <a:rPr lang="tr-TR" sz="1800" dirty="0">
                <a:ea typeface="+mn-lt"/>
                <a:cs typeface="+mn-lt"/>
              </a:rPr>
              <a:t> 56.85 % (4-channel)</a:t>
            </a:r>
          </a:p>
          <a:p>
            <a:pPr marL="457200" indent="-457200">
              <a:buFont typeface="Arial"/>
              <a:buChar char="•"/>
            </a:pPr>
            <a:r>
              <a:rPr lang="tr-TR" sz="1800" b="1" dirty="0" err="1">
                <a:ea typeface="+mn-lt"/>
                <a:cs typeface="+mn-lt"/>
              </a:rPr>
              <a:t>RGB+Saliency</a:t>
            </a:r>
            <a:r>
              <a:rPr lang="tr-TR" sz="1800" b="1" dirty="0">
                <a:ea typeface="+mn-lt"/>
                <a:cs typeface="+mn-lt"/>
              </a:rPr>
              <a:t>:</a:t>
            </a:r>
            <a:r>
              <a:rPr lang="tr-TR" sz="1800" dirty="0">
                <a:ea typeface="+mn-lt"/>
                <a:cs typeface="+mn-lt"/>
              </a:rPr>
              <a:t> </a:t>
            </a:r>
            <a:r>
              <a:rPr lang="tr-TR" sz="1800" b="1" dirty="0">
                <a:ea typeface="+mn-lt"/>
                <a:cs typeface="+mn-lt"/>
              </a:rPr>
              <a:t>59.88 % </a:t>
            </a:r>
            <a:r>
              <a:rPr lang="tr-TR" sz="1800" dirty="0">
                <a:ea typeface="+mn-lt"/>
                <a:cs typeface="+mn-lt"/>
              </a:rPr>
              <a:t>(4-channel)</a:t>
            </a:r>
          </a:p>
          <a:p>
            <a:pPr marL="457200" indent="-457200">
              <a:buFont typeface="Arial"/>
              <a:buChar char="•"/>
            </a:pPr>
            <a:r>
              <a:rPr lang="tr-TR" sz="1800" b="1" err="1"/>
              <a:t>RGB+All</a:t>
            </a:r>
            <a:r>
              <a:rPr lang="tr-TR" sz="1800" b="1" dirty="0"/>
              <a:t>: </a:t>
            </a:r>
            <a:r>
              <a:rPr lang="tr-TR" sz="1800" dirty="0">
                <a:ea typeface="+mn-lt"/>
                <a:cs typeface="+mn-lt"/>
              </a:rPr>
              <a:t>59.47% (7-channel)</a:t>
            </a:r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478EB22-2902-3C53-E9F8-AF8B9E44A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709" y="0"/>
            <a:ext cx="3716472" cy="6858000"/>
          </a:xfrm>
          <a:prstGeom prst="rect">
            <a:avLst/>
          </a:prstGeom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FD3C386E-78DD-7EE3-C990-342C442BE00B}"/>
              </a:ext>
            </a:extLst>
          </p:cNvPr>
          <p:cNvSpPr txBox="1"/>
          <p:nvPr/>
        </p:nvSpPr>
        <p:spPr>
          <a:xfrm>
            <a:off x="10709947" y="6211023"/>
            <a:ext cx="151559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600" dirty="0">
                <a:ea typeface="+mn-lt"/>
                <a:cs typeface="+mn-lt"/>
              </a:rPr>
              <a:t>https://encrypted-tbn0.gstatic.com/images?q=tbn:ANd9GcStPsx2YaCxL9OPfjFTd4aQdNv6a5-xPWEWJQ&amp;s</a:t>
            </a:r>
          </a:p>
        </p:txBody>
      </p:sp>
    </p:spTree>
    <p:extLst>
      <p:ext uri="{BB962C8B-B14F-4D97-AF65-F5344CB8AC3E}">
        <p14:creationId xmlns:p14="http://schemas.microsoft.com/office/powerpoint/2010/main" val="231178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B5BC39-9813-C33E-437C-0F488591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+mj-lt"/>
                <a:cs typeface="+mj-lt"/>
              </a:rPr>
              <a:t>Data-</a:t>
            </a:r>
            <a:r>
              <a:rPr lang="tr-TR" dirty="0" err="1">
                <a:ea typeface="+mj-lt"/>
                <a:cs typeface="+mj-lt"/>
              </a:rPr>
              <a:t>Efficiency</a:t>
            </a:r>
            <a:r>
              <a:rPr lang="tr-TR" dirty="0">
                <a:ea typeface="+mj-lt"/>
                <a:cs typeface="+mj-lt"/>
              </a:rPr>
              <a:t> </a:t>
            </a:r>
            <a:r>
              <a:rPr lang="tr-TR" dirty="0" err="1">
                <a:ea typeface="+mj-lt"/>
                <a:cs typeface="+mj-lt"/>
              </a:rPr>
              <a:t>Sweep</a:t>
            </a:r>
            <a:endParaRPr lang="tr-TR" dirty="0" err="1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C50177C-12EF-4C97-002D-15C274235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79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 At 10 %, 25 %, 50 % of data: </a:t>
            </a:r>
            <a:r>
              <a:rPr lang="tr-TR" dirty="0" err="1">
                <a:ea typeface="+mn-lt"/>
                <a:cs typeface="+mn-lt"/>
              </a:rPr>
              <a:t>FlatCNN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leads</a:t>
            </a:r>
            <a:r>
              <a:rPr lang="tr-TR" dirty="0">
                <a:ea typeface="+mn-lt"/>
                <a:cs typeface="+mn-lt"/>
              </a:rPr>
              <a:t>, but </a:t>
            </a:r>
            <a:r>
              <a:rPr lang="tr-TR" dirty="0" err="1">
                <a:ea typeface="+mn-lt"/>
                <a:cs typeface="+mn-lt"/>
              </a:rPr>
              <a:t>gap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shrinks</a:t>
            </a:r>
            <a:r>
              <a:rPr lang="tr-TR" dirty="0">
                <a:ea typeface="+mn-lt"/>
                <a:cs typeface="+mn-lt"/>
              </a:rPr>
              <a:t> (</a:t>
            </a:r>
            <a:r>
              <a:rPr lang="tr-TR" dirty="0" err="1">
                <a:ea typeface="+mn-lt"/>
                <a:cs typeface="+mn-lt"/>
              </a:rPr>
              <a:t>trained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for</a:t>
            </a:r>
            <a:r>
              <a:rPr lang="tr-TR" dirty="0">
                <a:ea typeface="+mn-lt"/>
                <a:cs typeface="+mn-lt"/>
              </a:rPr>
              <a:t> 10 </a:t>
            </a:r>
            <a:r>
              <a:rPr lang="tr-TR" dirty="0" err="1">
                <a:ea typeface="+mn-lt"/>
                <a:cs typeface="+mn-lt"/>
              </a:rPr>
              <a:t>epochs</a:t>
            </a:r>
            <a:r>
              <a:rPr lang="tr-TR" dirty="0">
                <a:ea typeface="+mn-lt"/>
                <a:cs typeface="+mn-lt"/>
              </a:rPr>
              <a:t>)</a:t>
            </a:r>
            <a:endParaRPr lang="tr-TR" dirty="0"/>
          </a:p>
          <a:p>
            <a:endParaRPr lang="tr-TR" dirty="0"/>
          </a:p>
        </p:txBody>
      </p:sp>
      <p:pic>
        <p:nvPicPr>
          <p:cNvPr id="4" name="Resim 3" descr="çizgi, metin, diyagram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E1C59324-C216-D462-15A5-835B60303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486" y="2743899"/>
            <a:ext cx="5306037" cy="395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61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30987E-7416-78ED-B6BE-6C44053CF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ea typeface="+mj-lt"/>
                <a:cs typeface="+mj-lt"/>
              </a:rPr>
              <a:t>Discussion</a:t>
            </a:r>
            <a:r>
              <a:rPr lang="tr-TR" dirty="0">
                <a:ea typeface="+mj-lt"/>
                <a:cs typeface="+mj-lt"/>
              </a:rPr>
              <a:t>, </a:t>
            </a:r>
            <a:r>
              <a:rPr lang="tr-TR" dirty="0" err="1">
                <a:ea typeface="+mj-lt"/>
                <a:cs typeface="+mj-lt"/>
              </a:rPr>
              <a:t>Limitations</a:t>
            </a:r>
            <a:r>
              <a:rPr lang="tr-TR" dirty="0">
                <a:ea typeface="+mj-lt"/>
                <a:cs typeface="+mj-lt"/>
              </a:rPr>
              <a:t> &amp; </a:t>
            </a:r>
            <a:r>
              <a:rPr lang="tr-TR" dirty="0" err="1">
                <a:ea typeface="+mj-lt"/>
                <a:cs typeface="+mj-lt"/>
              </a:rPr>
              <a:t>Future</a:t>
            </a:r>
            <a:r>
              <a:rPr lang="tr-TR" dirty="0">
                <a:ea typeface="+mj-lt"/>
                <a:cs typeface="+mj-lt"/>
              </a:rPr>
              <a:t> </a:t>
            </a:r>
            <a:r>
              <a:rPr lang="tr-TR" dirty="0" err="1">
                <a:ea typeface="+mj-lt"/>
                <a:cs typeface="+mj-lt"/>
              </a:rPr>
              <a:t>Work</a:t>
            </a:r>
            <a:endParaRPr lang="tr-TR" dirty="0" err="1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5BA493-F01C-A79D-D5F7-6389CEA64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2067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/>
            <a:r>
              <a:rPr lang="tr-TR" b="1" dirty="0">
                <a:ea typeface="+mn-lt"/>
                <a:cs typeface="+mn-lt"/>
              </a:rPr>
              <a:t>    </a:t>
            </a:r>
            <a:r>
              <a:rPr lang="tr-TR" b="1" dirty="0" err="1">
                <a:ea typeface="+mn-lt"/>
                <a:cs typeface="+mn-lt"/>
              </a:rPr>
              <a:t>Key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Takeaways</a:t>
            </a:r>
            <a:r>
              <a:rPr lang="tr-TR" b="1" dirty="0">
                <a:ea typeface="+mn-lt"/>
                <a:cs typeface="+mn-lt"/>
              </a:rPr>
              <a:t>:</a:t>
            </a:r>
            <a:endParaRPr lang="tr-T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 b="1" err="1">
                <a:ea typeface="+mn-lt"/>
                <a:cs typeface="+mn-lt"/>
              </a:rPr>
              <a:t>Accuracy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Flat</a:t>
            </a:r>
            <a:r>
              <a:rPr lang="tr-TR" dirty="0">
                <a:ea typeface="+mn-lt"/>
                <a:cs typeface="+mn-lt"/>
              </a:rPr>
              <a:t> CNN </a:t>
            </a:r>
            <a:r>
              <a:rPr lang="tr-TR" err="1">
                <a:ea typeface="+mn-lt"/>
                <a:cs typeface="+mn-lt"/>
              </a:rPr>
              <a:t>still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best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with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full</a:t>
            </a:r>
            <a:r>
              <a:rPr lang="tr-TR" dirty="0">
                <a:ea typeface="+mn-lt"/>
                <a:cs typeface="+mn-lt"/>
              </a:rPr>
              <a:t> data</a:t>
            </a:r>
            <a:endParaRPr lang="tr-TR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 b="1" err="1">
                <a:ea typeface="+mn-lt"/>
                <a:cs typeface="+mn-lt"/>
              </a:rPr>
              <a:t>Interpretability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Hierarchical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maps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clearly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detect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intended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features</a:t>
            </a:r>
            <a:endParaRPr lang="tr-TR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 b="1" err="1">
                <a:ea typeface="+mn-lt"/>
                <a:cs typeface="+mn-lt"/>
              </a:rPr>
              <a:t>Efficiency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Hierarchy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narrows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gap</a:t>
            </a:r>
            <a:r>
              <a:rPr lang="tr-TR" dirty="0">
                <a:ea typeface="+mn-lt"/>
                <a:cs typeface="+mn-lt"/>
              </a:rPr>
              <a:t> in </a:t>
            </a:r>
            <a:r>
              <a:rPr lang="tr-TR" err="1">
                <a:ea typeface="+mn-lt"/>
                <a:cs typeface="+mn-lt"/>
              </a:rPr>
              <a:t>low</a:t>
            </a:r>
            <a:r>
              <a:rPr lang="tr-TR" dirty="0">
                <a:ea typeface="+mn-lt"/>
                <a:cs typeface="+mn-lt"/>
              </a:rPr>
              <a:t>-data </a:t>
            </a:r>
            <a:r>
              <a:rPr lang="tr-TR" err="1">
                <a:ea typeface="+mn-lt"/>
                <a:cs typeface="+mn-lt"/>
              </a:rPr>
              <a:t>regimes</a:t>
            </a:r>
            <a:endParaRPr lang="tr-TR" sz="2800" err="1"/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r>
              <a:rPr lang="tr-TR" b="1" dirty="0" err="1">
                <a:ea typeface="+mn-lt"/>
                <a:cs typeface="+mn-lt"/>
              </a:rPr>
              <a:t>Limitations</a:t>
            </a:r>
            <a:r>
              <a:rPr lang="tr-TR" b="1" dirty="0">
                <a:ea typeface="+mn-lt"/>
                <a:cs typeface="+mn-lt"/>
              </a:rPr>
              <a:t>:</a:t>
            </a:r>
            <a:endParaRPr lang="tr-T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 err="1">
                <a:ea typeface="+mn-lt"/>
                <a:cs typeface="+mn-lt"/>
              </a:rPr>
              <a:t>More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parameters</a:t>
            </a:r>
            <a:r>
              <a:rPr lang="tr-TR" dirty="0">
                <a:ea typeface="+mn-lt"/>
                <a:cs typeface="+mn-lt"/>
              </a:rPr>
              <a:t> &amp; </a:t>
            </a:r>
            <a:r>
              <a:rPr lang="tr-TR" err="1">
                <a:ea typeface="+mn-lt"/>
                <a:cs typeface="+mn-lt"/>
              </a:rPr>
              <a:t>training</a:t>
            </a:r>
            <a:r>
              <a:rPr lang="tr-TR" dirty="0">
                <a:ea typeface="+mn-lt"/>
                <a:cs typeface="+mn-lt"/>
              </a:rPr>
              <a:t> time</a:t>
            </a:r>
            <a:endParaRPr lang="tr-TR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 dirty="0" err="1">
                <a:ea typeface="+mn-lt"/>
                <a:cs typeface="+mn-lt"/>
              </a:rPr>
              <a:t>Tested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only</a:t>
            </a:r>
            <a:r>
              <a:rPr lang="tr-TR" dirty="0">
                <a:ea typeface="+mn-lt"/>
                <a:cs typeface="+mn-lt"/>
              </a:rPr>
              <a:t> on </a:t>
            </a:r>
            <a:r>
              <a:rPr lang="tr-TR" dirty="0" err="1">
                <a:ea typeface="+mn-lt"/>
                <a:cs typeface="+mn-lt"/>
              </a:rPr>
              <a:t>clean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dataset</a:t>
            </a:r>
            <a:r>
              <a:rPr lang="tr-TR" dirty="0">
                <a:ea typeface="+mn-lt"/>
                <a:cs typeface="+mn-lt"/>
              </a:rPr>
              <a:t> (CIFAR-10)</a:t>
            </a:r>
            <a:endParaRPr lang="tr-TR" dirty="0"/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  <a:p>
            <a:r>
              <a:rPr lang="tr-TR" b="1" dirty="0" err="1">
                <a:ea typeface="+mn-lt"/>
                <a:cs typeface="+mn-lt"/>
              </a:rPr>
              <a:t>Future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dirty="0" err="1">
                <a:ea typeface="+mn-lt"/>
                <a:cs typeface="+mn-lt"/>
              </a:rPr>
              <a:t>Directions</a:t>
            </a:r>
            <a:r>
              <a:rPr lang="tr-TR" b="1" dirty="0">
                <a:ea typeface="+mn-lt"/>
                <a:cs typeface="+mn-lt"/>
              </a:rPr>
              <a:t>:</a:t>
            </a:r>
            <a:endParaRPr lang="tr-TR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 b="1" err="1">
                <a:ea typeface="+mn-lt"/>
                <a:cs typeface="+mn-lt"/>
              </a:rPr>
              <a:t>End-to-end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err="1">
                <a:ea typeface="+mn-lt"/>
                <a:cs typeface="+mn-lt"/>
              </a:rPr>
              <a:t>fine-tuning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allow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backprop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across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all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modules</a:t>
            </a:r>
            <a:endParaRPr lang="tr-TR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 b="1" err="1">
                <a:ea typeface="+mn-lt"/>
                <a:cs typeface="+mn-lt"/>
              </a:rPr>
              <a:t>Robustness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err="1">
                <a:ea typeface="+mn-lt"/>
                <a:cs typeface="+mn-lt"/>
              </a:rPr>
              <a:t>tests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add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noise</a:t>
            </a:r>
            <a:r>
              <a:rPr lang="tr-TR" dirty="0">
                <a:ea typeface="+mn-lt"/>
                <a:cs typeface="+mn-lt"/>
              </a:rPr>
              <a:t> / domain </a:t>
            </a:r>
            <a:r>
              <a:rPr lang="tr-TR" err="1">
                <a:ea typeface="+mn-lt"/>
                <a:cs typeface="+mn-lt"/>
              </a:rPr>
              <a:t>shift</a:t>
            </a:r>
            <a:r>
              <a:rPr lang="tr-TR" dirty="0">
                <a:ea typeface="+mn-lt"/>
                <a:cs typeface="+mn-lt"/>
              </a:rPr>
              <a:t> (</a:t>
            </a:r>
            <a:r>
              <a:rPr lang="tr-TR" err="1">
                <a:ea typeface="+mn-lt"/>
                <a:cs typeface="+mn-lt"/>
              </a:rPr>
              <a:t>e.g</a:t>
            </a:r>
            <a:r>
              <a:rPr lang="tr-TR" dirty="0">
                <a:ea typeface="+mn-lt"/>
                <a:cs typeface="+mn-lt"/>
              </a:rPr>
              <a:t>., </a:t>
            </a:r>
            <a:r>
              <a:rPr lang="tr-TR" err="1">
                <a:ea typeface="+mn-lt"/>
                <a:cs typeface="+mn-lt"/>
              </a:rPr>
              <a:t>TinyImageNet</a:t>
            </a:r>
            <a:r>
              <a:rPr lang="tr-TR" dirty="0">
                <a:ea typeface="+mn-lt"/>
                <a:cs typeface="+mn-lt"/>
              </a:rPr>
              <a:t>, </a:t>
            </a:r>
            <a:r>
              <a:rPr lang="tr-TR" err="1">
                <a:ea typeface="+mn-lt"/>
                <a:cs typeface="+mn-lt"/>
              </a:rPr>
              <a:t>real-world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photos</a:t>
            </a:r>
            <a:r>
              <a:rPr lang="tr-TR" dirty="0">
                <a:ea typeface="+mn-lt"/>
                <a:cs typeface="+mn-lt"/>
              </a:rPr>
              <a:t>)</a:t>
            </a:r>
            <a:endParaRPr lang="tr-TR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 b="1" err="1">
                <a:ea typeface="+mn-lt"/>
                <a:cs typeface="+mn-lt"/>
              </a:rPr>
              <a:t>Larger</a:t>
            </a:r>
            <a:r>
              <a:rPr lang="tr-TR" b="1" dirty="0">
                <a:ea typeface="+mn-lt"/>
                <a:cs typeface="+mn-lt"/>
              </a:rPr>
              <a:t> </a:t>
            </a:r>
            <a:r>
              <a:rPr lang="tr-TR" b="1" err="1">
                <a:ea typeface="+mn-lt"/>
                <a:cs typeface="+mn-lt"/>
              </a:rPr>
              <a:t>datasets</a:t>
            </a:r>
            <a:r>
              <a:rPr lang="tr-TR" b="1" dirty="0">
                <a:ea typeface="+mn-lt"/>
                <a:cs typeface="+mn-lt"/>
              </a:rPr>
              <a:t>: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scale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to</a:t>
            </a:r>
            <a:r>
              <a:rPr lang="tr-TR" dirty="0">
                <a:ea typeface="+mn-lt"/>
                <a:cs typeface="+mn-lt"/>
              </a:rPr>
              <a:t> CIFAR-100 </a:t>
            </a:r>
            <a:r>
              <a:rPr lang="tr-TR" err="1">
                <a:ea typeface="+mn-lt"/>
                <a:cs typeface="+mn-lt"/>
              </a:rPr>
              <a:t>or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ImageNet-lite</a:t>
            </a:r>
            <a:endParaRPr lang="tr-TR"/>
          </a:p>
          <a:p>
            <a:pPr lvl="1">
              <a:buFont typeface="Courier New" panose="020B0604020202020204" pitchFamily="34" charset="0"/>
              <a:buChar char="o"/>
            </a:pPr>
            <a:r>
              <a:rPr lang="tr-TR" b="1" dirty="0" err="1"/>
              <a:t>Further</a:t>
            </a:r>
            <a:r>
              <a:rPr lang="tr-TR" b="1" dirty="0"/>
              <a:t> </a:t>
            </a:r>
            <a:r>
              <a:rPr lang="tr-TR" b="1" dirty="0" err="1"/>
              <a:t>investigations</a:t>
            </a:r>
            <a:r>
              <a:rPr lang="tr-TR" b="1" dirty="0"/>
              <a:t> on </a:t>
            </a:r>
            <a:r>
              <a:rPr lang="tr-TR" b="1" dirty="0" err="1"/>
              <a:t>saliency</a:t>
            </a:r>
            <a:r>
              <a:rPr lang="tr-TR" b="1" dirty="0"/>
              <a:t> </a:t>
            </a:r>
            <a:r>
              <a:rPr lang="tr-TR" b="1" dirty="0" err="1"/>
              <a:t>maps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3824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A49D4EF-B5D3-C61F-7A44-6E53CC22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References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9788935-CF67-F16A-E71E-1CAD1CA9E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[1] </a:t>
            </a:r>
            <a:r>
              <a:rPr lang="tr-TR" dirty="0" err="1">
                <a:ea typeface="+mn-lt"/>
                <a:cs typeface="+mn-lt"/>
              </a:rPr>
              <a:t>Yoshua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Bengio</a:t>
            </a:r>
            <a:r>
              <a:rPr lang="tr-TR" dirty="0">
                <a:ea typeface="+mn-lt"/>
                <a:cs typeface="+mn-lt"/>
              </a:rPr>
              <a:t>, Jerome </a:t>
            </a:r>
            <a:r>
              <a:rPr lang="tr-TR" dirty="0" err="1">
                <a:ea typeface="+mn-lt"/>
                <a:cs typeface="+mn-lt"/>
              </a:rPr>
              <a:t>Louradour</a:t>
            </a:r>
            <a:r>
              <a:rPr lang="tr-TR" dirty="0">
                <a:ea typeface="+mn-lt"/>
                <a:cs typeface="+mn-lt"/>
              </a:rPr>
              <a:t>, </a:t>
            </a:r>
            <a:r>
              <a:rPr lang="tr-TR" dirty="0" err="1">
                <a:ea typeface="+mn-lt"/>
                <a:cs typeface="+mn-lt"/>
              </a:rPr>
              <a:t>Ronan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Collobert</a:t>
            </a:r>
            <a:r>
              <a:rPr lang="tr-TR" dirty="0">
                <a:ea typeface="+mn-lt"/>
                <a:cs typeface="+mn-lt"/>
              </a:rPr>
              <a:t>, </a:t>
            </a:r>
            <a:r>
              <a:rPr lang="tr-TR" dirty="0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Jason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Weston</a:t>
            </a:r>
            <a:r>
              <a:rPr lang="tr-TR" dirty="0">
                <a:ea typeface="+mn-lt"/>
                <a:cs typeface="+mn-lt"/>
              </a:rPr>
              <a:t>. </a:t>
            </a:r>
            <a:r>
              <a:rPr lang="tr-TR" dirty="0" err="1">
                <a:ea typeface="+mn-lt"/>
                <a:cs typeface="+mn-lt"/>
              </a:rPr>
              <a:t>Curriculum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learning</a:t>
            </a:r>
            <a:r>
              <a:rPr lang="tr-TR" dirty="0">
                <a:ea typeface="+mn-lt"/>
                <a:cs typeface="+mn-lt"/>
              </a:rPr>
              <a:t>. </a:t>
            </a:r>
            <a:r>
              <a:rPr lang="tr-TR" dirty="0" err="1">
                <a:ea typeface="+mn-lt"/>
                <a:cs typeface="+mn-lt"/>
              </a:rPr>
              <a:t>In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Proceedings</a:t>
            </a:r>
            <a:r>
              <a:rPr lang="tr-TR" dirty="0">
                <a:ea typeface="+mn-lt"/>
                <a:cs typeface="+mn-lt"/>
              </a:rPr>
              <a:t> of </a:t>
            </a:r>
            <a:r>
              <a:rPr lang="tr-TR" dirty="0" err="1">
                <a:ea typeface="+mn-lt"/>
                <a:cs typeface="+mn-lt"/>
              </a:rPr>
              <a:t>the</a:t>
            </a:r>
            <a:r>
              <a:rPr lang="tr-TR" dirty="0">
                <a:ea typeface="+mn-lt"/>
                <a:cs typeface="+mn-lt"/>
              </a:rPr>
              <a:t> 26th </a:t>
            </a:r>
            <a:r>
              <a:rPr lang="tr-TR" dirty="0" err="1">
                <a:ea typeface="+mn-lt"/>
                <a:cs typeface="+mn-lt"/>
              </a:rPr>
              <a:t>annual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international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conference</a:t>
            </a:r>
            <a:r>
              <a:rPr lang="tr-TR" dirty="0">
                <a:ea typeface="+mn-lt"/>
                <a:cs typeface="+mn-lt"/>
              </a:rPr>
              <a:t> on </a:t>
            </a:r>
            <a:r>
              <a:rPr lang="tr-TR" dirty="0" err="1">
                <a:ea typeface="+mn-lt"/>
                <a:cs typeface="+mn-lt"/>
              </a:rPr>
              <a:t>machine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learning</a:t>
            </a:r>
            <a:r>
              <a:rPr lang="tr-TR" dirty="0">
                <a:ea typeface="+mn-lt"/>
                <a:cs typeface="+mn-lt"/>
              </a:rPr>
              <a:t>, </a:t>
            </a:r>
            <a:r>
              <a:rPr lang="tr-TR" dirty="0" err="1">
                <a:ea typeface="+mn-lt"/>
                <a:cs typeface="+mn-lt"/>
              </a:rPr>
              <a:t>pages</a:t>
            </a:r>
            <a:r>
              <a:rPr lang="tr-TR" dirty="0">
                <a:ea typeface="+mn-lt"/>
                <a:cs typeface="+mn-lt"/>
              </a:rPr>
              <a:t> 41–48. ACM, 2009.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83231863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s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9" baseType="lpstr">
      <vt:lpstr>Ofis Teması</vt:lpstr>
      <vt:lpstr>Hierarchical vs. Flat CNNs for Object Detection</vt:lpstr>
      <vt:lpstr>Motivation &amp; Description </vt:lpstr>
      <vt:lpstr>Model Architectures  &amp; Training</vt:lpstr>
      <vt:lpstr>Experimental Results</vt:lpstr>
      <vt:lpstr>PowerPoint Sunusu</vt:lpstr>
      <vt:lpstr>Data-Efficiency Sweep</vt:lpstr>
      <vt:lpstr>Discussion, Limitations &amp; 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217</cp:revision>
  <dcterms:created xsi:type="dcterms:W3CDTF">2025-05-20T11:57:27Z</dcterms:created>
  <dcterms:modified xsi:type="dcterms:W3CDTF">2025-05-20T14:18:42Z</dcterms:modified>
</cp:coreProperties>
</file>